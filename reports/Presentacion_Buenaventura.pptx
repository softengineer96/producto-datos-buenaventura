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Portada institucional. Saludo, nombre y programa. 10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el título y los integrantes. 15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Anunciar el recorrido y el reparto de tiempo. 15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proyecto no es un tablero: es un ciclo completo de datos. Insistir en que las dos fuentes son oficiales y verificables. 25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que la arquitectura por capas es lo que hace auditable el resultado. 25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problema no es falta de datos: es que están partidos y nadie los lee juntos. 25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Contar el giro: el diagnóstico inicial estaba equivocado y comprobarlo habilitó el dominio portuario. 20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Leer la pregunta despacio. Subrayar que se admitía que la respuesta fuera negativa. 20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Cuatro preguntas, cada una con respuesta medida en el proyecto. 20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Subrayar la última línea del objetivo: solo lo que las fuentes sostienen. 20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leer los ocho: decir que cada uno tiene un archivo que lo prueba y señalar el sexto, que es el que midió la hipótesis. 25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Defender el resultado negativo como aporte, no como fracaso. 20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Dejar clarísimo que la unión es por mes. Es la limitación central. 20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fila operacional es la que hay que defender: no es omisión, es ausencia de fuente documentada. 20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definir cada concepto: decir para qué se usó cada uno. 25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Mencionar que no se tratan datos personales: todo es agregado. 20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corazón metodológico. Detenerse en la ausencia de fuga temporal. 45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Aquí empieza la parte central. Nombrar al público concreto. 45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que hay ingeniería, no solo un cuaderno. 45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argumento de auditabilidad: ninguna cifra es escrita a mano. 45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Momento clave de la sustentación. Decirlo sin rodeos: la hipótesis de partida quedó refutada y se reporta. 60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Advertir la limitación antes de que la pregunte el jurado. 60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Ejemplo perfecto de por qué el total agregado engaña. 45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Declarar el residuo y la naturaleza del valor unitario. 45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caso de la carga contenerizada es el que demuestra honestidad metodológica. 60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Enlazar con la demostración: nombrar las dos vistas que se van a mostrar en vivo. 40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Ensayar la demostración antes. Tener el plan de respaldo abierto en otra pestaña. 120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leer los nueve bloques: nombrar propuesta de valor y segmentos. 25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cuatro conclusiones en cuarenta segundos. La cuarta es la que define el tono del trabajo.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Nombrar solo las dos de prioridad alta. 25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leerlas: señalar que todas son públicas y reproducibles. 20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Agradecer y abrir el espacio de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port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000" y="737999"/>
            <a:ext cx="7200000" cy="57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800" b="1">
                <a:solidFill>
                  <a:srgbClr val="843C0C"/>
                </a:solidFill>
                <a:latin typeface="Montserrat"/>
              </a:rPr>
              <a:t>Ciencia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000" y="1278000"/>
            <a:ext cx="864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700" b="1">
                <a:solidFill>
                  <a:srgbClr val="843C0C"/>
                </a:solidFill>
                <a:latin typeface="Montserrat"/>
              </a:rPr>
              <a:t>“Tomando decisiones basados en conocimiento”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72000" y="2376000"/>
            <a:ext cx="6840000" cy="0"/>
          </a:xfrm>
          <a:prstGeom prst="line">
            <a:avLst/>
          </a:prstGeom>
          <a:ln w="12700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790000" y="2430000"/>
            <a:ext cx="6840000" cy="25199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843C0C"/>
                </a:solidFill>
                <a:latin typeface="Calibri"/>
              </a:rPr>
              <a:t>Título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90000" y="2681999"/>
            <a:ext cx="6803999" cy="57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1">
                <a:solidFill>
                  <a:srgbClr val="3B3838"/>
                </a:solidFill>
                <a:latin typeface="Calibri"/>
              </a:rPr>
              <a:t>Producto de datos para el análisis integrado del comercio de importación y el tráfico portuario de Buenaventura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72000" y="3528000"/>
            <a:ext cx="6840000" cy="0"/>
          </a:xfrm>
          <a:prstGeom prst="line">
            <a:avLst/>
          </a:prstGeom>
          <a:ln w="12700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90000" y="3582000"/>
            <a:ext cx="6840000" cy="25199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843C0C"/>
                </a:solidFill>
                <a:latin typeface="Calibri"/>
              </a:rPr>
              <a:t>Autores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90000" y="3834000"/>
            <a:ext cx="6803999" cy="57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1">
                <a:solidFill>
                  <a:srgbClr val="3B3838"/>
                </a:solidFill>
                <a:latin typeface="Calibri"/>
              </a:rPr>
              <a:t>Juan Manuel Tejada Fajardo · Jesús Alejandro Guerrero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72000" y="4680000"/>
            <a:ext cx="6840000" cy="0"/>
          </a:xfrm>
          <a:prstGeom prst="line">
            <a:avLst/>
          </a:prstGeom>
          <a:ln w="12700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790000" y="4734000"/>
            <a:ext cx="6840000" cy="25199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843C0C"/>
                </a:solidFill>
                <a:latin typeface="Calibri"/>
              </a:rPr>
              <a:t>Director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0000" y="4986000"/>
            <a:ext cx="6803999" cy="57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1">
                <a:solidFill>
                  <a:srgbClr val="3B3838"/>
                </a:solidFill>
                <a:latin typeface="Calibri"/>
              </a:rPr>
              <a:t>Ing. Fabián Castillo  ·  Universidad Libre — Seccional Cali</a:t>
            </a:r>
          </a:p>
        </p:txBody>
      </p:sp>
      <p:pic>
        <p:nvPicPr>
          <p:cNvPr id="15" name="Picture 14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Contenido de la sustentación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Quince minutos repartidos en tres momentos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15 minutos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4000" y="1980000"/>
            <a:ext cx="3492000" cy="93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1 · Información general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Introducción y procesos generales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6000" y="1980000"/>
            <a:ext cx="3492000" cy="93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2 · Planteamiento del problema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Descripción, antecedentes, formulación y sistematización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000" y="1980000"/>
            <a:ext cx="3492000" cy="93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3 · Objetivos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General y específicos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4000" y="3096000"/>
            <a:ext cx="3492000" cy="93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4 · Justificación, alcance y delimitación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Por qué, hasta dónde y con qué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6000" y="3096000"/>
            <a:ext cx="3492000" cy="93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5 · Marco de referencia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Teórico, conceptual, contextual y legal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000" y="3096000"/>
            <a:ext cx="3492000" cy="93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6 · Metodología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Fundamento de la ciencia de datos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4000" y="4140000"/>
            <a:ext cx="3492000" cy="864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7 · Ingeniería y despliegue del producto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Entorno, cuadro de mando y demostración en vivo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6000" y="4140000"/>
            <a:ext cx="3492000" cy="864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8 · Modelo de negocio y comunicación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Propuesta de valor y difusión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000" y="4140000"/>
            <a:ext cx="3492000" cy="864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9 · Cierre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Conclusiones, recomendaciones y fuentes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000" y="5256000"/>
            <a:ext cx="10836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843C0C"/>
                </a:solidFill>
                <a:latin typeface="Calibri"/>
              </a:rPr>
              <a:t>Contexto 3 min   ·   Producto de datos 10 min   ·   Cierre 2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Introducción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El ciclo que recorre el proyecto, de la fuente oficial a la decisión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Contexto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309999" y="1873080"/>
            <a:ext cx="1548000" cy="959760"/>
          </a:xfrm>
          <a:prstGeom prst="ellipse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843C0C"/>
                </a:solidFill>
                <a:latin typeface="Calibri"/>
              </a:rPr>
              <a:t>Fuentes
oficiales</a:t>
            </a:r>
          </a:p>
        </p:txBody>
      </p:sp>
      <p:sp>
        <p:nvSpPr>
          <p:cNvPr id="9" name="Oval 8"/>
          <p:cNvSpPr/>
          <p:nvPr/>
        </p:nvSpPr>
        <p:spPr>
          <a:xfrm>
            <a:off x="7053120" y="2939500"/>
            <a:ext cx="115200" cy="115200"/>
          </a:xfrm>
          <a:prstGeom prst="ellipse">
            <a:avLst/>
          </a:prstGeom>
          <a:solidFill>
            <a:srgbClr val="E0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178276" y="2568600"/>
            <a:ext cx="1548000" cy="959760"/>
          </a:xfrm>
          <a:prstGeom prst="ellipse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843C0C"/>
                </a:solidFill>
                <a:latin typeface="Calibri"/>
              </a:rPr>
              <a:t>Ingesta y
trazabilidad</a:t>
            </a:r>
          </a:p>
        </p:txBody>
      </p:sp>
      <p:sp>
        <p:nvSpPr>
          <p:cNvPr id="11" name="Oval 10"/>
          <p:cNvSpPr/>
          <p:nvPr/>
        </p:nvSpPr>
        <p:spPr>
          <a:xfrm>
            <a:off x="8079840" y="3686400"/>
            <a:ext cx="115200" cy="115200"/>
          </a:xfrm>
          <a:prstGeom prst="ellipse">
            <a:avLst/>
          </a:prstGeom>
          <a:solidFill>
            <a:srgbClr val="E0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78276" y="3959639"/>
            <a:ext cx="1548000" cy="959760"/>
          </a:xfrm>
          <a:prstGeom prst="ellipse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843C0C"/>
                </a:solidFill>
                <a:latin typeface="Calibri"/>
              </a:rPr>
              <a:t>Análisis
exploratorio</a:t>
            </a:r>
          </a:p>
        </p:txBody>
      </p:sp>
      <p:sp>
        <p:nvSpPr>
          <p:cNvPr id="13" name="Oval 12"/>
          <p:cNvSpPr/>
          <p:nvPr/>
        </p:nvSpPr>
        <p:spPr>
          <a:xfrm>
            <a:off x="7053120" y="4433299"/>
            <a:ext cx="115200" cy="115200"/>
          </a:xfrm>
          <a:prstGeom prst="ellipse">
            <a:avLst/>
          </a:prstGeom>
          <a:solidFill>
            <a:srgbClr val="E0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9999" y="4655160"/>
            <a:ext cx="1548000" cy="959760"/>
          </a:xfrm>
          <a:prstGeom prst="ellipse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843C0C"/>
                </a:solidFill>
                <a:latin typeface="Calibri"/>
              </a:rPr>
              <a:t>Modelado y
validación</a:t>
            </a:r>
          </a:p>
        </p:txBody>
      </p:sp>
      <p:sp>
        <p:nvSpPr>
          <p:cNvPr id="15" name="Oval 14"/>
          <p:cNvSpPr/>
          <p:nvPr/>
        </p:nvSpPr>
        <p:spPr>
          <a:xfrm>
            <a:off x="4999680" y="4433299"/>
            <a:ext cx="115200" cy="115200"/>
          </a:xfrm>
          <a:prstGeom prst="ellipse">
            <a:avLst/>
          </a:prstGeom>
          <a:solidFill>
            <a:srgbClr val="E0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41723" y="3959640"/>
            <a:ext cx="1548000" cy="959760"/>
          </a:xfrm>
          <a:prstGeom prst="ellipse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843C0C"/>
                </a:solidFill>
                <a:latin typeface="Calibri"/>
              </a:rPr>
              <a:t>Cuadro de
mando</a:t>
            </a:r>
          </a:p>
        </p:txBody>
      </p:sp>
      <p:sp>
        <p:nvSpPr>
          <p:cNvPr id="17" name="Oval 16"/>
          <p:cNvSpPr/>
          <p:nvPr/>
        </p:nvSpPr>
        <p:spPr>
          <a:xfrm>
            <a:off x="3972959" y="3686400"/>
            <a:ext cx="115200" cy="115200"/>
          </a:xfrm>
          <a:prstGeom prst="ellipse">
            <a:avLst/>
          </a:prstGeom>
          <a:solidFill>
            <a:srgbClr val="E0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41723" y="2568600"/>
            <a:ext cx="1548000" cy="959760"/>
          </a:xfrm>
          <a:prstGeom prst="ellipse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800" rIns="648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843C0C"/>
                </a:solidFill>
                <a:latin typeface="Calibri"/>
              </a:rPr>
              <a:t>Decisión
informada</a:t>
            </a:r>
          </a:p>
        </p:txBody>
      </p:sp>
      <p:sp>
        <p:nvSpPr>
          <p:cNvPr id="19" name="Oval 18"/>
          <p:cNvSpPr/>
          <p:nvPr/>
        </p:nvSpPr>
        <p:spPr>
          <a:xfrm>
            <a:off x="4999679" y="2939500"/>
            <a:ext cx="115200" cy="115200"/>
          </a:xfrm>
          <a:prstGeom prst="ellipse">
            <a:avLst/>
          </a:prstGeom>
          <a:solidFill>
            <a:srgbClr val="E0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44000" y="3294000"/>
            <a:ext cx="2880000" cy="900000"/>
          </a:xfrm>
          <a:prstGeom prst="ellipse">
            <a:avLst/>
          </a:prstGeom>
          <a:solidFill>
            <a:srgbClr val="843C0C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Comercio de
Buenaventura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000" y="5490000"/>
            <a:ext cx="10836000" cy="205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767171"/>
                </a:solidFill>
                <a:latin typeface="Calibri"/>
              </a:rPr>
              <a:t>Dos dominios oficiales integrados: 173 meses de aduana (2012-01 a 2026-05) y 102 meses de puerto (2018-01 a 2026-06).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Procesos generales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Mapa de procesos: cuatro capas de datos con evidencia en cada paso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Contexto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Pentagon 7"/>
          <p:cNvSpPr/>
          <p:nvPr/>
        </p:nvSpPr>
        <p:spPr>
          <a:xfrm>
            <a:off x="684000" y="2015999"/>
            <a:ext cx="2365200" cy="1080000"/>
          </a:xfrm>
          <a:prstGeom prst="homePlate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RAW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Fuente inmutable
con hash SHA-256</a:t>
            </a:r>
          </a:p>
        </p:txBody>
      </p:sp>
      <p:sp>
        <p:nvSpPr>
          <p:cNvPr id="9" name="Chevron 8"/>
          <p:cNvSpPr/>
          <p:nvPr/>
        </p:nvSpPr>
        <p:spPr>
          <a:xfrm>
            <a:off x="2851200" y="2015999"/>
            <a:ext cx="2365200" cy="1080000"/>
          </a:xfrm>
          <a:prstGeom prst="chevron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LANDING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Normalización
de formatos</a:t>
            </a:r>
          </a:p>
        </p:txBody>
      </p:sp>
      <p:sp>
        <p:nvSpPr>
          <p:cNvPr id="10" name="Chevron 9"/>
          <p:cNvSpPr/>
          <p:nvPr/>
        </p:nvSpPr>
        <p:spPr>
          <a:xfrm>
            <a:off x="5018400" y="2015999"/>
            <a:ext cx="2365200" cy="1080000"/>
          </a:xfrm>
          <a:prstGeom prst="chevron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TRUSTED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Series validadas
y reconciliadas</a:t>
            </a:r>
          </a:p>
        </p:txBody>
      </p:sp>
      <p:sp>
        <p:nvSpPr>
          <p:cNvPr id="11" name="Chevron 10"/>
          <p:cNvSpPr/>
          <p:nvPr/>
        </p:nvSpPr>
        <p:spPr>
          <a:xfrm>
            <a:off x="7185600" y="2015999"/>
            <a:ext cx="2365200" cy="1080000"/>
          </a:xfrm>
          <a:prstGeom prst="chevron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SURFACE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Evidencia lista
para consumo</a:t>
            </a:r>
          </a:p>
        </p:txBody>
      </p:sp>
      <p:sp>
        <p:nvSpPr>
          <p:cNvPr id="12" name="Chevron 11"/>
          <p:cNvSpPr/>
          <p:nvPr/>
        </p:nvSpPr>
        <p:spPr>
          <a:xfrm>
            <a:off x="9352800" y="2015999"/>
            <a:ext cx="2365200" cy="1080000"/>
          </a:xfrm>
          <a:prstGeom prst="chevron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PRODUCTO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Cuadro de mando
y documento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4000" y="3456000"/>
            <a:ext cx="3492000" cy="118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Control de entrada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Cada archivo se registra con su huella digital y su fecha de descarga antes de ser tocado.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6000" y="3456000"/>
            <a:ext cx="3492000" cy="118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Control de proceso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Reconciliación mes a mes contra el total publicado y bitácora de defectos de la fuente.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000" y="3456000"/>
            <a:ext cx="3492000" cy="118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Control de salida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90 pruebas automatizadas y comprobaciones de estilo.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4000" y="4896000"/>
            <a:ext cx="10836000" cy="205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767171"/>
                </a:solidFill>
                <a:latin typeface="Calibri"/>
              </a:rPr>
              <a:t>Ningún resultado del producto existe sin un archivo de evidencia que lo respalde y sin la pregunta del catálogo que lo originó.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Planteamiento del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Mapa conceptual: qué impide hoy leer el comercio de Buenaventura como un solo fenómeno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Contexto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6083999" y="3671999"/>
            <a:ext cx="0" cy="1404001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0" y="4653000"/>
            <a:ext cx="3024000" cy="846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Dos registros separados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La aduana mide declaraciones; el puerto mide toneladas movilizadas.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979999" y="3671999"/>
            <a:ext cx="4104000" cy="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67999" y="3248999"/>
            <a:ext cx="3024000" cy="846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Sin llave común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No hay identificador público que una una declaración con un movimiento de carga.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6083999" y="2267999"/>
            <a:ext cx="0" cy="140400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1999" y="1844999"/>
            <a:ext cx="3024000" cy="846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Conceptos no equivalentes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El peso neto aduanero y las toneladas portuarias no miden lo mismo.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3999" y="3671999"/>
            <a:ext cx="4104000" cy="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676000" y="3248999"/>
            <a:ext cx="3024000" cy="846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Lectura incompleta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Con una sola fuente no se distingue si un mes cambió por valor o por volumen.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8000" y="3203999"/>
            <a:ext cx="3311999" cy="936000"/>
          </a:xfrm>
          <a:prstGeom prst="roundRect">
            <a:avLst/>
          </a:prstGeom>
          <a:solidFill>
            <a:srgbClr val="843C0C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La información existe,
pero está partida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Antecedentes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Línea de tiempo: de las fuentes disponibles al producto integrado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Contexto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2000" y="3736799"/>
            <a:ext cx="10620000" cy="162000"/>
          </a:xfrm>
          <a:prstGeom prst="roundRect">
            <a:avLst/>
          </a:prstGeom>
          <a:solidFill>
            <a:srgbClr val="E0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75500" y="3592800"/>
            <a:ext cx="288000" cy="288000"/>
          </a:xfrm>
          <a:prstGeom prst="ellipse">
            <a:avLst/>
          </a:prstGeom>
          <a:solidFill>
            <a:srgbClr val="843C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2000" y="2610000"/>
            <a:ext cx="2475000" cy="864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843C0C"/>
                </a:solidFill>
                <a:latin typeface="Calibri"/>
              </a:rPr>
              <a:t>2012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El DANE publica microdatos mensuales de importación por aduana.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119500" y="3474000"/>
            <a:ext cx="0" cy="11880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630500" y="3592800"/>
            <a:ext cx="288000" cy="288000"/>
          </a:xfrm>
          <a:prstGeom prst="ellipse">
            <a:avLst/>
          </a:prstGeom>
          <a:solidFill>
            <a:srgbClr val="843C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36999" y="4157999"/>
            <a:ext cx="2475000" cy="864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843C0C"/>
                </a:solidFill>
                <a:latin typeface="Calibri"/>
              </a:rPr>
              <a:t>2018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Supertransporte abre el tráfico portuario mensual por sociedad.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74500" y="4039199"/>
            <a:ext cx="0" cy="11880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285500" y="3592800"/>
            <a:ext cx="288000" cy="288000"/>
          </a:xfrm>
          <a:prstGeom prst="ellipse">
            <a:avLst/>
          </a:prstGeom>
          <a:solidFill>
            <a:srgbClr val="843C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92000" y="2610000"/>
            <a:ext cx="2475000" cy="864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843C0C"/>
                </a:solidFill>
                <a:latin typeface="Calibri"/>
              </a:rPr>
              <a:t>Etapa 1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Producto aduanero validado con backtesting y pruebas automatizadas.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429500" y="3474000"/>
            <a:ext cx="0" cy="11880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940500" y="3592800"/>
            <a:ext cx="288000" cy="288000"/>
          </a:xfrm>
          <a:prstGeom prst="ellipse">
            <a:avLst/>
          </a:prstGeom>
          <a:solidFill>
            <a:srgbClr val="843C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47000" y="4157999"/>
            <a:ext cx="2475000" cy="864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843C0C"/>
                </a:solidFill>
                <a:latin typeface="Calibri"/>
              </a:rPr>
              <a:t>2026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Se integran aduana y puerto y se mide si la unión aporta al modelo.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084500" y="4039199"/>
            <a:ext cx="0" cy="11880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4000" y="5328000"/>
            <a:ext cx="10836000" cy="36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767171"/>
                </a:solidFill>
                <a:latin typeface="Calibri"/>
              </a:rPr>
              <a:t>El dataset portuario resultó ser mensual y descargable por API, no solo trimestral en PDF como se consideró al comienzo.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Formulación del problema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Contexto</a:t>
            </a:r>
          </a:p>
        </p:txBody>
      </p:sp>
      <p:pic>
        <p:nvPicPr>
          <p:cNvPr id="6" name="Picture 5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44000" y="2124000"/>
            <a:ext cx="10116000" cy="1944000"/>
          </a:xfrm>
          <a:prstGeom prst="roundRect">
            <a:avLst/>
          </a:prstGeom>
          <a:solidFill>
            <a:srgbClr val="843C0C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96000" rIns="396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¿Cómo desarrollar un producto de datos reproducible que integre información aduanera y portuaria de Buenaventura, permita monitorear y explicar indicadores agregados, pronostique únicamente aquellos con historia y calidad suficientes, comunique la incertidumbre de forma calibrada y no afirme relaciones que las fuentes no permiten sostener?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" y="4284000"/>
            <a:ext cx="10116000" cy="72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767171"/>
                </a:solidFill>
                <a:latin typeface="Calibri"/>
              </a:rPr>
              <a:t>La última condición de la pregunta admite una respuesta negativa, y el proyecto la mide en lugar de suponerla.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Sistematización del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Diagrama de árbol: la pregunta central abierta en cuatro preguntas verificables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Contexto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401999" y="2124000"/>
            <a:ext cx="5400000" cy="684000"/>
          </a:xfrm>
          <a:prstGeom prst="roundRect">
            <a:avLst/>
          </a:prstGeom>
          <a:solidFill>
            <a:srgbClr val="843C0C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¿Qué aporta integrar aduana y puerto en Buenaventura?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02000" y="2808000"/>
            <a:ext cx="0" cy="36000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4000" y="3528000"/>
            <a:ext cx="2547000" cy="1224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¿Con qué llave?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Qué tipo de unión admiten las fuentes: directa, agregada o solo contextual.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1957500" y="3168000"/>
            <a:ext cx="4144500" cy="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957500" y="3168000"/>
            <a:ext cx="0" cy="36000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46999" y="3528000"/>
            <a:ext cx="2547000" cy="1224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¿Con qué calidad?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Qué cobertura, continuidad y defectos tiene cada serie una vez reconciliada.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4720500" y="3168000"/>
            <a:ext cx="1381500" cy="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720500" y="3168000"/>
            <a:ext cx="0" cy="36000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10000" y="3528000"/>
            <a:ext cx="2547000" cy="1224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¿Mejora el pronóstico?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Si añadir variables portuarias reduce el error del pronóstico aduanero.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02000" y="3168000"/>
            <a:ext cx="1381500" cy="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83500" y="3168000"/>
            <a:ext cx="0" cy="36000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972999" y="3528000"/>
            <a:ext cx="2547000" cy="1224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¿Qué no se puede responder?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Qué preguntas quedan cerradas por ausencia de fuente pública.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02000" y="3168000"/>
            <a:ext cx="4144500" cy="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246500" y="3168000"/>
            <a:ext cx="0" cy="36000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Objetivo general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Contexto</a:t>
            </a:r>
          </a:p>
        </p:txBody>
      </p:sp>
      <p:pic>
        <p:nvPicPr>
          <p:cNvPr id="6" name="Picture 5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44000" y="2160000"/>
            <a:ext cx="10116000" cy="1800000"/>
          </a:xfrm>
          <a:prstGeom prst="roundRect">
            <a:avLst/>
          </a:prstGeom>
          <a:solidFill>
            <a:srgbClr val="843C0C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96000" rIns="396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Desarrollar y validar un producto de datos reproducible que integre información aduanera y portuaria de Buenaventura para monitorear, explicar y pronosticar indicadores agregados, conservando la trazabilidad desde la fuente oficial hasta la salida de consumo.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4000" y="4320000"/>
            <a:ext cx="3492000" cy="864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Trazable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Cada cifra remite a un archivo de evidencia.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6000" y="4320000"/>
            <a:ext cx="3492000" cy="864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Validado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Backtesting con ventana expansiva y líneas base.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000" y="4320000"/>
            <a:ext cx="3492000" cy="864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Honesto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Lo que la fuente no sostiene se declara no viable.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Objetivos específicos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Los ocho objetivos del documento, cada uno con el archivo que demuestra su cumplimiento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Contexto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024000" y="1872000"/>
            <a:ext cx="6120000" cy="468000"/>
          </a:xfrm>
          <a:prstGeom prst="roundRect">
            <a:avLst/>
          </a:prstGeom>
          <a:solidFill>
            <a:srgbClr val="843C0C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Producto de datos integrado, trazable y validado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4000" y="2520000"/>
            <a:ext cx="2574000" cy="13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1 · Evaluar la viabilidad de fuentes en cuatro dominios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6 fuentes evaluadas: 2 integradas, 2 de contexto, 2 descartadas.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38000" y="2520000"/>
            <a:ext cx="2574000" cy="13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2 · Construir series mensuales reconciliadas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173 meses aduaneros y 102 portuarios, continuos.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2000" y="2520000"/>
            <a:ext cx="2574000" cy="13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3 · Ejecutar las 52 preguntas y conservar la evidencia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38 ejecutadas, 4 parciales y 10 no viables.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46000" y="2520000"/>
            <a:ext cx="2574000" cy="13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4 · Declarar el tipo de integración posible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Integración agregada por mes; ninguna directa.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4000" y="4031999"/>
            <a:ext cx="2574000" cy="13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5 · Determinar qué indicadores pueden pronosticarse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4 elegibles de 7 evaluados.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38000" y="4031999"/>
            <a:ext cx="2574000" cy="13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6 · Medir si la integración mejora el pronóstico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No lo mejora: pasa de 6,082 % a 6,575 %.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2000" y="4031999"/>
            <a:ext cx="2574000" cy="13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7 · Comunicar la incertidumbre con cobertura medida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Cobertura empírica entre 75,0 % y 91,7 %.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46000" y="4031999"/>
            <a:ext cx="2574000" cy="13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8 · Documentar con evidencia lo no viable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10 preguntas cerradas con búsqueda documentada.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Justificación práctica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Mapa mental: por qué el ejercicio tiene valor aunque parte de sus resultados sean negativos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Contexto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6083999" y="3671999"/>
            <a:ext cx="0" cy="1404001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0" y="4653000"/>
            <a:ext cx="3024000" cy="846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Puerto crítico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Buenaventura concentra buena parte del comercio del Pacífico colombiano.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979999" y="3671999"/>
            <a:ext cx="4104000" cy="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67999" y="3248999"/>
            <a:ext cx="3024000" cy="846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Fuentes abiertas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Todo el insumo es público y la descarga es reproducible por interfaz de programación.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6083999" y="2267999"/>
            <a:ext cx="0" cy="140400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1999" y="1844999"/>
            <a:ext cx="3024000" cy="846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Método replicable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La arquitectura sirve para otros puertos con las mismas fuentes.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3999" y="3671999"/>
            <a:ext cx="4104000" cy="0"/>
          </a:xfrm>
          <a:prstGeom prst="line">
            <a:avLst/>
          </a:prstGeom>
          <a:ln w="15875">
            <a:solidFill>
              <a:srgbClr val="843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676000" y="3248999"/>
            <a:ext cx="3024000" cy="846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Resultado negativo útil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Medir que la integración no mejora el pronóstico evita construir sobre un supuesto falso.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8000" y="3203999"/>
            <a:ext cx="3311999" cy="936000"/>
          </a:xfrm>
          <a:prstGeom prst="roundRect">
            <a:avLst/>
          </a:prstGeom>
          <a:solidFill>
            <a:srgbClr val="843C0C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¿Por qué
hacerlo?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Alcance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Diagrama de Venn: lo que cada dominio aporta y lo que solo se ve al cruzarlos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Contexto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3239999" y="2524320"/>
            <a:ext cx="3888000" cy="2799360"/>
          </a:xfrm>
          <a:prstGeom prst="ellipse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39999" y="2524320"/>
            <a:ext cx="3888000" cy="2799360"/>
          </a:xfrm>
          <a:prstGeom prst="ellipse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59999" y="3096000"/>
            <a:ext cx="2160000" cy="165599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843C0C"/>
                </a:solidFill>
                <a:latin typeface="Calibri"/>
              </a:rPr>
              <a:t>Aduana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000" b="0">
                <a:solidFill>
                  <a:srgbClr val="843C0C"/>
                </a:solidFill>
                <a:latin typeface="Calibri"/>
              </a:rPr>
              <a:t>DANE IMPO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173 meses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43C0C"/>
                </a:solidFill>
                <a:latin typeface="Calibri"/>
              </a:rPr>
              <a:t>Valor CIF, peso neto,
origen y capítulo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7999" y="3096000"/>
            <a:ext cx="2160000" cy="165599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843C0C"/>
                </a:solidFill>
                <a:latin typeface="Calibri"/>
              </a:rPr>
              <a:t>Puerto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000" b="0">
                <a:solidFill>
                  <a:srgbClr val="843C0C"/>
                </a:solidFill>
                <a:latin typeface="Calibri"/>
              </a:rPr>
              <a:t>Supertransporte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102 meses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843C0C"/>
                </a:solidFill>
                <a:latin typeface="Calibri"/>
              </a:rPr>
              <a:t>Toneladas, tipo de carga
y sociedad portuaria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5999" y="3420000"/>
            <a:ext cx="1655999" cy="1224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3B3838"/>
                </a:solidFill>
                <a:latin typeface="Calibri"/>
              </a:rPr>
              <a:t>Integración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agregada por mes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3B3838"/>
                </a:solidFill>
                <a:latin typeface="Calibri"/>
              </a:rPr>
              <a:t>101 meses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2018-01 a 2026-05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5490000"/>
            <a:ext cx="10836000" cy="205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767171"/>
                </a:solidFill>
                <a:latin typeface="Calibri"/>
              </a:rPr>
              <a:t>La intersección es temporal, no de registro: se cruzan meses, nunca una declaración con un movimiento de carga.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Delimitación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Tabla comparativa: qué entra, qué queda fuera y por qué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Contexto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4000" y="2015999"/>
          <a:ext cx="10835998" cy="28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661"/>
                <a:gridCol w="3334153"/>
                <a:gridCol w="3084092"/>
                <a:gridCol w="3084092"/>
              </a:tblGrid>
              <a:tr h="475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Dimensión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Dentro del proyecto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Fuera del proyecto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Razón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</a:tr>
              <a:tr h="475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Espacial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Zona portuaria de Buenaventura y aduana 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Otros puertos del país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El objeto de estudio es un solo nodo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Temporal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Aduana 2012-01 a 2026-05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Antes de 2012 y después del último corte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Cobertura efectiva de los microdatos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</a:tr>
              <a:tr h="475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Temática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Importación, tráfico portuario y contexto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Exportación como objeto de modelado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La aduana 35 registra importación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Operacional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Toneladas y tipo de carga por sociedad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Arribos, banderas, tiempos de atención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Sin fuente pública tabular histórica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</a:tr>
              <a:tr h="475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Metodológica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Modelos lineales regularizados con validación temporal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Modelos de caja negra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Muestra corta y exigencia de interpretabilidad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4000" y="5256000"/>
            <a:ext cx="10836000" cy="205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767171"/>
                </a:solidFill>
                <a:latin typeface="Calibri"/>
              </a:rPr>
              <a:t>De las 52 preguntas del catálogo, 10 quedaron cerradas como no viables con la evidencia de dónde se buscó la fuente.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Marco teórico y conceptual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Mapa conceptual: los conceptos que sostienen las decisiones técnicas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Contexto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4000" y="1980000"/>
            <a:ext cx="3492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Series de tiempo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Autocorrelación, estacionalidad y tendencia como estructura a explotar.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ACF del CIF en el rezago 1: 0,917.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6000" y="1980000"/>
            <a:ext cx="3492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Validación temporal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Ventana expansiva y pronóstico a un paso: nunca se entrena con el futuro.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24 cortes de backtest sobre el valor CIF.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000" y="1980000"/>
            <a:ext cx="3492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Líneas base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Un modelo solo aporta si supera repetir el último valor.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Naive 1 sobre el CIF: 6,956 %.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4000" y="3600000"/>
            <a:ext cx="3492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Incertidumbre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Intervalos conformales calibrados sobre errores pasados, no supuestos.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Cobertura nominal 80 %.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6000" y="3600000"/>
            <a:ext cx="3492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Concentración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El índice de Herfindahl-Hirschman mide reparto, no capacidad instalada.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Umbral de concentración: 2.500 puntos.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000" y="3600000"/>
            <a:ext cx="3492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Trazabilidad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Cada resultado nace de una pregunta del catálogo y deja un archivo.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Catálogo cerrado de 52 preguntas.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Marco contextual y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Mapa de red institucional y jerarquía normativa de las fuentes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Contexto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 flipV="1">
            <a:off x="6083999" y="2340000"/>
            <a:ext cx="0" cy="126000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83999" y="2340000"/>
            <a:ext cx="3616523" cy="630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083999" y="2970000"/>
            <a:ext cx="3616523" cy="63000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700522" y="2970000"/>
            <a:ext cx="0" cy="1260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3999" y="3600000"/>
            <a:ext cx="3616523" cy="63000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083999" y="4230000"/>
            <a:ext cx="3616523" cy="630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83999" y="3600000"/>
            <a:ext cx="0" cy="126000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2467477" y="4230000"/>
            <a:ext cx="3616522" cy="630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467477" y="3600000"/>
            <a:ext cx="3616522" cy="63000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467477" y="2970000"/>
            <a:ext cx="0" cy="1260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2467477" y="2970000"/>
            <a:ext cx="3616522" cy="63000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467477" y="2340000"/>
            <a:ext cx="3616522" cy="630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715999" y="1925999"/>
            <a:ext cx="2736000" cy="827999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843C0C"/>
                </a:solidFill>
                <a:latin typeface="Calibri"/>
              </a:rPr>
              <a:t>DANE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Microdatos de importación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32522" y="2556000"/>
            <a:ext cx="2736000" cy="827999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843C0C"/>
                </a:solidFill>
                <a:latin typeface="Calibri"/>
              </a:rPr>
              <a:t>Supertransporte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Tráfico portuario mensual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32522" y="3816000"/>
            <a:ext cx="2736000" cy="827999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843C0C"/>
                </a:solidFill>
                <a:latin typeface="Calibri"/>
              </a:rPr>
              <a:t>DIMAR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Boletines sin serie tabular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15999" y="4446000"/>
            <a:ext cx="2736000" cy="827999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843C0C"/>
                </a:solidFill>
                <a:latin typeface="Calibri"/>
              </a:rPr>
              <a:t>Banco de la República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Tasa de cambio representativa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9477" y="3816000"/>
            <a:ext cx="2736000" cy="827999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843C0C"/>
                </a:solidFill>
                <a:latin typeface="Calibri"/>
              </a:rPr>
              <a:t>NOAA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Índice oceánico El Niño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9477" y="2556000"/>
            <a:ext cx="2736000" cy="827999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843C0C"/>
                </a:solidFill>
                <a:latin typeface="Calibri"/>
              </a:rPr>
              <a:t>Sociedades portuarias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Operación de la zona</a:t>
            </a:r>
          </a:p>
        </p:txBody>
      </p:sp>
      <p:sp>
        <p:nvSpPr>
          <p:cNvPr id="26" name="Oval 25"/>
          <p:cNvSpPr/>
          <p:nvPr/>
        </p:nvSpPr>
        <p:spPr>
          <a:xfrm>
            <a:off x="4535999" y="3114000"/>
            <a:ext cx="3096000" cy="972000"/>
          </a:xfrm>
          <a:prstGeom prst="ellipse">
            <a:avLst/>
          </a:prstGeom>
          <a:solidFill>
            <a:srgbClr val="843C0C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Buenaventura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000" y="5166000"/>
            <a:ext cx="10836000" cy="21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Marco legal aplicado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000" y="5328000"/>
            <a:ext cx="10836000" cy="36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1. Ley 1712 de 2014, transparencia y acceso a la información pública   ·   2. Ley 1581 de 2012, protección de datos: el proyecto solo usa agregados   ·   3. Licencia CC BY-SA 4.0 del conjunto portuario, citada en cada uso   ·   4. NTC 1486 y APA séptima edición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Metodología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Diagrama de flujo: el fundamento de ciencia de datos aplicado al proyecto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Producto · 10 min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Pentagon 7"/>
          <p:cNvSpPr/>
          <p:nvPr/>
        </p:nvSpPr>
        <p:spPr>
          <a:xfrm>
            <a:off x="684000" y="1980000"/>
            <a:ext cx="2004000" cy="1116000"/>
          </a:xfrm>
          <a:prstGeom prst="homePlate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Comprensión
del negocio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0">
                <a:solidFill>
                  <a:srgbClr val="3B3838"/>
                </a:solidFill>
                <a:latin typeface="Calibri"/>
              </a:rPr>
              <a:t>52 preguntas
cerradas</a:t>
            </a:r>
          </a:p>
        </p:txBody>
      </p:sp>
      <p:sp>
        <p:nvSpPr>
          <p:cNvPr id="9" name="Chevron 8"/>
          <p:cNvSpPr/>
          <p:nvPr/>
        </p:nvSpPr>
        <p:spPr>
          <a:xfrm>
            <a:off x="2490000" y="1980000"/>
            <a:ext cx="2004000" cy="1116000"/>
          </a:xfrm>
          <a:prstGeom prst="chevron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Comprensión
de los datos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0">
                <a:solidFill>
                  <a:srgbClr val="3B3838"/>
                </a:solidFill>
                <a:latin typeface="Calibri"/>
              </a:rPr>
              <a:t>Reconciliación
y bitácora</a:t>
            </a:r>
          </a:p>
        </p:txBody>
      </p:sp>
      <p:sp>
        <p:nvSpPr>
          <p:cNvPr id="10" name="Chevron 9"/>
          <p:cNvSpPr/>
          <p:nvPr/>
        </p:nvSpPr>
        <p:spPr>
          <a:xfrm>
            <a:off x="4296000" y="1980000"/>
            <a:ext cx="2004000" cy="1116000"/>
          </a:xfrm>
          <a:prstGeom prst="chevron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Preparación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0">
                <a:solidFill>
                  <a:srgbClr val="3B3838"/>
                </a:solidFill>
                <a:latin typeface="Calibri"/>
              </a:rPr>
              <a:t>Cuatro capas
con hash</a:t>
            </a:r>
          </a:p>
        </p:txBody>
      </p:sp>
      <p:sp>
        <p:nvSpPr>
          <p:cNvPr id="11" name="Chevron 10"/>
          <p:cNvSpPr/>
          <p:nvPr/>
        </p:nvSpPr>
        <p:spPr>
          <a:xfrm>
            <a:off x="6102000" y="1980000"/>
            <a:ext cx="2004000" cy="1116000"/>
          </a:xfrm>
          <a:prstGeom prst="chevron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Modelado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0">
                <a:solidFill>
                  <a:srgbClr val="3B3838"/>
                </a:solidFill>
                <a:latin typeface="Calibri"/>
              </a:rPr>
              <a:t>Regresión
regularizada</a:t>
            </a:r>
          </a:p>
        </p:txBody>
      </p:sp>
      <p:sp>
        <p:nvSpPr>
          <p:cNvPr id="12" name="Chevron 11"/>
          <p:cNvSpPr/>
          <p:nvPr/>
        </p:nvSpPr>
        <p:spPr>
          <a:xfrm>
            <a:off x="7907999" y="1980000"/>
            <a:ext cx="2004000" cy="1116000"/>
          </a:xfrm>
          <a:prstGeom prst="chevron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Evaluación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0">
                <a:solidFill>
                  <a:srgbClr val="3B3838"/>
                </a:solidFill>
                <a:latin typeface="Calibri"/>
              </a:rPr>
              <a:t>Walk-forward
y líneas base</a:t>
            </a:r>
          </a:p>
        </p:txBody>
      </p:sp>
      <p:sp>
        <p:nvSpPr>
          <p:cNvPr id="13" name="Chevron 12"/>
          <p:cNvSpPr/>
          <p:nvPr/>
        </p:nvSpPr>
        <p:spPr>
          <a:xfrm>
            <a:off x="9713999" y="1980000"/>
            <a:ext cx="2004000" cy="1116000"/>
          </a:xfrm>
          <a:prstGeom prst="chevron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Despliegue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850" b="0">
                <a:solidFill>
                  <a:srgbClr val="3B3838"/>
                </a:solidFill>
                <a:latin typeface="Calibri"/>
              </a:rPr>
              <a:t>Cuadro de mando
de solo lectura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4000" y="3384000"/>
            <a:ext cx="3492000" cy="12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Sin fuga temporal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Todas las variables entran rezagadas y los escaladores se ajustan dentro de cada corte, nunca sobre la serie completa.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6000" y="3384000"/>
            <a:ext cx="3492000" cy="12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Contra líneas base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Cada modelo compite contra repetir el último valor, repetir el mismo mes del año anterior y la deriva.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000" y="3384000"/>
            <a:ext cx="3492000" cy="12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Con ablación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Se entrenan cinco configuraciones de variables para aislar qué grupo aporta y cuál estorba.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000" y="4824000"/>
            <a:ext cx="10836000" cy="205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767171"/>
                </a:solidFill>
                <a:latin typeface="Calibri"/>
              </a:rPr>
              <a:t>La métrica principal es el error porcentual absoluto ponderado sobre 24 cortes de validación, no el ajuste sobre los datos de entrenamiento.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El producto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Propósito, público objetivo y valor agregado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Producto · 10 min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4000" y="2015999"/>
            <a:ext cx="3492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Propósito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Leer en un solo lugar el comercio de importación y el tráfico portuario de Buenaventura, distinguiendo qué parte de un cambio viene del valor y qué parte del volumen físico.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6000" y="2015999"/>
            <a:ext cx="3492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Público objetivo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Analistas de comercio exterior, equipos de planeación logística y observatorios académicos que hoy consultan las dos fuentes por separado.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000" y="2015999"/>
            <a:ext cx="3492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Valor agregado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Un contraste que ninguna fuente muestra sola, cifras con evidencia rastreable y un pronóstico que declara su margen de error en lugar de esconderlo.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4000" y="4068000"/>
            <a:ext cx="5328000" cy="1080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Lo que sí hace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Describe, compara dominios, pronostica lo que se puede pronosticar y publica el error de cada pronóstico.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2000" y="4068000"/>
            <a:ext cx="5328000" cy="1080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Lo que no hace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No estima congestión, tiempos de atención ni buques. No imputa valores ausentes: avisa de que faltan.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Ingeniería del producto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Entorno de desarrollo, componentes y reutilización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Producto · 10 min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4000" y="1980000"/>
          <a:ext cx="5256000" cy="23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3096000"/>
              </a:tblGrid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Componente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Contenido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Módulos de dominio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Aduana, puerto e integración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Módulos comunes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Métricas, modelos, calidad y trazabilidad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Suites de prueba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90 pruebas automatizadas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Revisión de estilo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Sin hallazgos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Cuadros de trabajo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Entorno y análisis exploratorio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Cuadro de mando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Siete vistas de solo lectura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192000" y="1980000"/>
            <a:ext cx="5328000" cy="104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Entorno reproducible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Dependencias fijadas en un archivo de requisitos; la ruta raíz se deriva del propio archivo, sin rutas absolutas en ningún módulo.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2000" y="3204000"/>
            <a:ext cx="5328000" cy="104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Ejecución local y en la nube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El mismo paquete detecta si corre en el equipo o en un entorno de cuadernos en la nube y reapunta las rutas sin duplicar el sistema de carpetas.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2000" y="4428000"/>
            <a:ext cx="5328000" cy="104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Continuidad sobre lo que ya funcionaba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Se conservaron los módulos que ya estaban validados y se ajustaron únicamente los puntos que presentaban problemas.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5328000"/>
            <a:ext cx="10836000" cy="36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767171"/>
                </a:solidFill>
                <a:latin typeface="Calibri"/>
              </a:rPr>
              <a:t>La reutilización es deliberada: métricas, intervalos, líneas base y trazabilidad son agnósticos al dominio y sirven igual para toneladas que para valor.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Trazabilidad de punta a punta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De la pregunta al archivo de evidencia y del archivo a la diapositiva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Producto · 10 min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Pentagon 7"/>
          <p:cNvSpPr/>
          <p:nvPr/>
        </p:nvSpPr>
        <p:spPr>
          <a:xfrm>
            <a:off x="684000" y="2015999"/>
            <a:ext cx="2365200" cy="1044000"/>
          </a:xfrm>
          <a:prstGeom prst="homePlate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Pregunta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Catálogo cerrado
P01 a P52</a:t>
            </a:r>
          </a:p>
        </p:txBody>
      </p:sp>
      <p:sp>
        <p:nvSpPr>
          <p:cNvPr id="9" name="Chevron 8"/>
          <p:cNvSpPr/>
          <p:nvPr/>
        </p:nvSpPr>
        <p:spPr>
          <a:xfrm>
            <a:off x="2851200" y="2015999"/>
            <a:ext cx="2365200" cy="1044000"/>
          </a:xfrm>
          <a:prstGeom prst="chevron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Ejecución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Módulo o celda
del cuaderno</a:t>
            </a:r>
          </a:p>
        </p:txBody>
      </p:sp>
      <p:sp>
        <p:nvSpPr>
          <p:cNvPr id="10" name="Chevron 9"/>
          <p:cNvSpPr/>
          <p:nvPr/>
        </p:nvSpPr>
        <p:spPr>
          <a:xfrm>
            <a:off x="5018400" y="2015999"/>
            <a:ext cx="2365200" cy="1044000"/>
          </a:xfrm>
          <a:prstGeom prst="chevron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Evidencia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Archivo con
huella digital</a:t>
            </a:r>
          </a:p>
        </p:txBody>
      </p:sp>
      <p:sp>
        <p:nvSpPr>
          <p:cNvPr id="11" name="Chevron 10"/>
          <p:cNvSpPr/>
          <p:nvPr/>
        </p:nvSpPr>
        <p:spPr>
          <a:xfrm>
            <a:off x="7185600" y="2015999"/>
            <a:ext cx="2365200" cy="1044000"/>
          </a:xfrm>
          <a:prstGeom prst="chevron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Cifra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Catálogo de
cifras verificadas</a:t>
            </a:r>
          </a:p>
        </p:txBody>
      </p:sp>
      <p:sp>
        <p:nvSpPr>
          <p:cNvPr id="12" name="Chevron 11"/>
          <p:cNvSpPr/>
          <p:nvPr/>
        </p:nvSpPr>
        <p:spPr>
          <a:xfrm>
            <a:off x="9352800" y="2015999"/>
            <a:ext cx="2365200" cy="1044000"/>
          </a:xfrm>
          <a:prstGeom prst="chevron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Publicación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Documento y
cuadro de mando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4000" y="3384000"/>
            <a:ext cx="2574000" cy="1152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Ejecutadas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38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con archivo de salida verificable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38000" y="3384000"/>
            <a:ext cx="2574000" cy="1152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Parciales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4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ejecutadas con limitación declarada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2000" y="3384000"/>
            <a:ext cx="2574000" cy="1152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No viables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10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con evidencia de dónde se buscó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46000" y="3384000"/>
            <a:ext cx="2574000" cy="1152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Sin justificar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0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ninguna quedó sin respuesta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000" y="4824000"/>
            <a:ext cx="10836000" cy="36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767171"/>
                </a:solidFill>
                <a:latin typeface="Calibri"/>
              </a:rPr>
              <a:t>El cuaderno de análisis produce 55 figuras y 57 archivos de evidencia, y se ejecuta de punta a punta sin errores. La construcción del documento falla si alguien escribe una cifra que no esté en el catálogo.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La integración no mejora el pronóstico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Resultado central. Ablación multidominio sobre el valor CIF, 24 cortes de backtesting con ventana expansiva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Producto · 10 min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4000" y="2015999"/>
          <a:ext cx="6695998" cy="246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9999"/>
                <a:gridCol w="863999"/>
                <a:gridCol w="1296000"/>
                <a:gridCol w="1296000"/>
              </a:tblGrid>
              <a:tr h="352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Conjunto de variables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Variables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Error (WAPE)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Frente a A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</a:tr>
              <a:tr h="352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376E3F"/>
                          </a:solidFill>
                          <a:latin typeface="Calibri"/>
                        </a:rPr>
                        <a:t>B · historia propia + calendario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376E3F"/>
                          </a:solidFill>
                          <a:latin typeface="Calibri"/>
                        </a:rPr>
                        <a:t>5,875 %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376E3F"/>
                          </a:solidFill>
                          <a:latin typeface="Calibri"/>
                        </a:rPr>
                        <a:t>+0,207 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2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A · historia propia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6,082 %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</a:tr>
              <a:tr h="352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D · A + contexto (tasa de cambio, El Niño)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6,133 %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−0,051 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2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E · integrado completo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6,167 %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−0,085 pp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</a:tr>
              <a:tr h="352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A62B2B"/>
                          </a:solidFill>
                          <a:latin typeface="Calibri"/>
                        </a:rPr>
                        <a:t>C · A + puerto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A62B2B"/>
                          </a:solidFill>
                          <a:latin typeface="Calibri"/>
                        </a:rPr>
                        <a:t>6,575 %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1">
                          <a:solidFill>
                            <a:srgbClr val="A62B2B"/>
                          </a:solidFill>
                          <a:latin typeface="Calibri"/>
                        </a:rPr>
                        <a:t>−0,493 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2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Base · repetir el último valor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6,956 %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50" b="0">
                          <a:solidFill>
                            <a:srgbClr val="3B3838"/>
                          </a:solidFill>
                          <a:latin typeface="Calibri"/>
                        </a:rPr>
                        <a:t>−0,874 pp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32000" y="2015999"/>
            <a:ext cx="3888000" cy="1224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Por qué ocurre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Ambas fuentes miden el mismo comercio subyacente y comparten el mismo rezago de publicación. El puerto no añade información que la historia del propio valor no contenga ya, y sí consume grados de libertad sobre una muestra corta.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2000" y="3420000"/>
            <a:ext cx="3888000" cy="1224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Qué significa para el producto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El valor de la integración no es predictivo: es explicativo. Sirve para responder si un mes cambió por valor o por volumen y para localizar por qué sociedad portuaria pasa la carga.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" y="4752000"/>
            <a:ext cx="10836000" cy="36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767171"/>
                </a:solidFill>
                <a:latin typeface="Calibri"/>
              </a:rPr>
              <a:t>Las cinco configuraciones superan a las tres líneas base: el modelo aporta sobre no hacer nada. Lo que no aporta es la integración. Se reporta tal cual se midió.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Concentración por sociedad portuaria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Lo que solo se ve integrando. Índice de Herfindahl-Hirschman en tres dimensiones del mismo comercio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Producto · 10 min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4000" y="2015999"/>
            <a:ext cx="3492000" cy="1080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Capítulo arancelario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433,74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desconcentrado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6000" y="2015999"/>
            <a:ext cx="3492000" cy="1080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País de origen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1.351,38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desconcentrado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000" y="2015999"/>
            <a:ext cx="3492000" cy="1080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Sociedad portuaria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3.514,24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concentrado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" y="3276000"/>
            <a:ext cx="10836000" cy="57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843C0C"/>
                </a:solidFill>
                <a:latin typeface="Calibri"/>
              </a:rPr>
              <a:t>Buenaventura importa mercancía variada desde orígenes variados, pero la mueve por muy pocas sociedades portuarias.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4000" y="3671999"/>
          <a:ext cx="5328000" cy="146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4000"/>
                <a:gridCol w="1584000"/>
              </a:tblGrid>
              <a:tr h="244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Sociedad portuaria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Participación 2018–2026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</a:tr>
              <a:tr h="244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843C0C"/>
                          </a:solidFill>
                          <a:latin typeface="Calibri"/>
                        </a:rPr>
                        <a:t>Sociedad Portuaria Regional de Buenaventura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843C0C"/>
                          </a:solidFill>
                          <a:latin typeface="Calibri"/>
                        </a:rPr>
                        <a:t>51,36 %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4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Sociedad Puerto Industrial Aguadulce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25,28 %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</a:tr>
              <a:tr h="244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Sociedad Portuaria Terminal de Contenedores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13,73 %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4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Grupo Portuario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6,01 %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</a:tr>
              <a:tr h="244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Compañía de Puertos Asociados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3,62 %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63999" y="3671999"/>
          <a:ext cx="5255999" cy="146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000"/>
                <a:gridCol w="1224000"/>
                <a:gridCol w="1655999"/>
              </a:tblGrid>
              <a:tr h="244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Año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Índice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Sociedades que reportan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</a:tr>
              <a:tr h="244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2018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4.722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4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2.988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</a:tr>
              <a:tr h="244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3.740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4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767171"/>
                          </a:solidFill>
                          <a:latin typeface="Calibri"/>
                        </a:rPr>
                        <a:t>2026 · seis meses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767171"/>
                          </a:solidFill>
                          <a:latin typeface="Calibri"/>
                        </a:rPr>
                        <a:t>4.217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76717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</a:tr>
              <a:tr h="2448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767171"/>
                          </a:solidFill>
                          <a:latin typeface="Calibri"/>
                        </a:rPr>
                        <a:t>2025 recalculado con esas tres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767171"/>
                          </a:solidFill>
                          <a:latin typeface="Calibri"/>
                        </a:rPr>
                        <a:t>4.096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76717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84000" y="5328000"/>
            <a:ext cx="10836000" cy="36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767171"/>
                </a:solidFill>
                <a:latin typeface="Calibri"/>
              </a:rPr>
              <a:t>El índice mide reparto de toneladas reportadas: no mide capacidad instalada, utilización ni posibilidad real de sustitución. El salto de 2026 se explica sobre todo por el cambio de cobertura del reporte.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La caída portuaria es transbordo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Lo que esconde un total. Descomposición del tráfico de la zona portuaria por tipo de flujo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Producto · 10 min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0000" y="1925999"/>
            <a:ext cx="6732000" cy="356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23_carga_movilizada_en_la_zona_portuaria_de_buenaven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00" y="1980000"/>
            <a:ext cx="6623999" cy="3456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560000" y="1980000"/>
            <a:ext cx="3960000" cy="774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Importación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19,6 %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variación del periodo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0000" y="2880000"/>
            <a:ext cx="3960000" cy="774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Exportación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1,3 %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variación del periodo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60000" y="3780000"/>
            <a:ext cx="3960000" cy="774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Transbordo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-85,2 %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variación del periodo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60000" y="4680000"/>
            <a:ext cx="3960000" cy="774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Total de la zona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-13,3 %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variación del periodo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000" y="5328000"/>
            <a:ext cx="10836000" cy="36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767171"/>
                </a:solidFill>
                <a:latin typeface="Calibri"/>
              </a:rPr>
              <a:t>El transbordo es carga que cambia de buque sin entrar ni salir del país: pesa 9,5 % del total movilizado y sumarlo al comercio exterior infla la cifra. La caída del total no es una caída del comercio.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Valor y volumen se separaron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Descomposición logarítmica del crecimiento del valor CIF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Producto · 10 min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0000" y="1925999"/>
            <a:ext cx="6732000" cy="356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15_evolucion_aduanera_cif_peso_y_valor_unitar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00" y="1980000"/>
            <a:ext cx="6623999" cy="3456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560000" y="1980000"/>
            <a:ext cx="3960000" cy="936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Crecimiento del valor CIF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80,4 %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en el periodo observado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0000" y="3060000"/>
            <a:ext cx="3960000" cy="936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Aporte del volumen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52,2 %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de ese crecimiento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60000" y="4140000"/>
            <a:ext cx="3960000" cy="936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Aporte del valor unitario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47,0 %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de ese crecimiento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5166000"/>
            <a:ext cx="10836000" cy="529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767171"/>
                </a:solidFill>
                <a:latin typeface="Calibri"/>
              </a:rPr>
              <a:t>Los dos aportes no suman exactamente cien: la diferencia es el residuo de la descomposición y se declara. El valor CIF está en dólares corrientes, de modo que parte de la variación es precio y no volumen, y el cociente entre valor y kilogramo es un valor unitario declarado, no un precio de mercado.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Qué se pronostica y qué 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Un indicador que no supera la referencia trivial se presenta sin modelo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Producto · 10 min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4000" y="2015999"/>
          <a:ext cx="10836000" cy="24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000"/>
                <a:gridCol w="1080000"/>
                <a:gridCol w="2232000"/>
                <a:gridCol w="1584000"/>
                <a:gridCol w="1728000"/>
                <a:gridCol w="1620000"/>
              </a:tblGrid>
              <a:tr h="403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Observaciones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Mejor opción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Error del modelo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Repetir el último valor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Decisión</a:t>
                      </a:r>
                    </a:p>
                  </a:txBody>
                  <a:tcPr anchor="ctr">
                    <a:solidFill>
                      <a:srgbClr val="843C0C"/>
                    </a:solidFill>
                  </a:tcPr>
                </a:tc>
              </a:tr>
              <a:tr h="403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Valor CIF de importación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173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Historia propia + calendario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376E3F"/>
                          </a:solidFill>
                          <a:latin typeface="Calibri"/>
                        </a:rPr>
                        <a:t>5,875 %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6,956 %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376E3F"/>
                          </a:solidFill>
                          <a:latin typeface="Calibri"/>
                        </a:rPr>
                        <a:t>se pronostica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Toneladas totales de la zona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Regresión regularizada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376E3F"/>
                          </a:solidFill>
                          <a:latin typeface="Calibri"/>
                        </a:rPr>
                        <a:t>6,613 %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9,174 %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376E3F"/>
                          </a:solidFill>
                          <a:latin typeface="Calibri"/>
                        </a:rPr>
                        <a:t>se pronostica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</a:tr>
              <a:tr h="403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Carga contenerizada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Repetir el último valor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A62B2B"/>
                          </a:solidFill>
                          <a:latin typeface="Calibri"/>
                        </a:rPr>
                        <a:t>9,450 %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8,553 %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A62B2B"/>
                          </a:solidFill>
                          <a:latin typeface="Calibri"/>
                        </a:rPr>
                        <a:t>sin modelo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Contenedores equivalentes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767171"/>
                          </a:solidFill>
                          <a:latin typeface="Calibri"/>
                        </a:rPr>
                        <a:t>la fuente no lo publica</a:t>
                      </a:r>
                    </a:p>
                  </a:txBody>
                  <a:tcPr anchor="ctr">
                    <a:solidFill>
                      <a:srgbClr val="FAECC0"/>
                    </a:solidFill>
                  </a:tcPr>
                </a:tc>
              </a:tr>
              <a:tr h="403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Arribos y tiempos de atención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3B383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767171"/>
                          </a:solidFill>
                          <a:latin typeface="Calibri"/>
                        </a:rPr>
                        <a:t>sin fuente pública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4000" y="4464000"/>
            <a:ext cx="5328000" cy="115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Intervalos calibrados, no supuestos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Cobertura nominal de 80 % con cobertura empírica observada entre 75,0 % y 91,7 % según el corte. La cobertura se mide, nunca se deriva del error.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2000" y="4464000"/>
            <a:ext cx="5328000" cy="115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Mejora frente a la referencia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15,5 % de mejora sobre repetir el último valor en el valor CIF y 27,9 % en toneladas totales. En carga contenerizada la mejora es negativa y por eso se retira el modelo.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Despliegue del producto: el cuadro de mando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Contenido principal de las siete vistas y sus archivos de evidencia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Producto · 10 min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4000" y="2015999"/>
            <a:ext cx="3492000" cy="12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Resumen ejecutivo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Indicadores de cabecera de los dos dominios con su periodo y su fuente.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6000" y="2015999"/>
            <a:ext cx="3492000" cy="12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Dinámica aduanera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Serie del valor, del peso y del valor unitario declarado, con filtros de periodo.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000" y="2015999"/>
            <a:ext cx="3492000" cy="12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Puerto y composición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Toneladas por tipo de carga y por sociedad portuaria.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4000" y="3420000"/>
            <a:ext cx="3492000" cy="12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Integración y modelos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Cruce mensual, correlaciones, backtests e intervalos de predicción.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6000" y="3420000"/>
            <a:ext cx="3492000" cy="12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Detalle descargable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Tablas filtrables con opción de descarga para revisar los resultados.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000" y="3420000"/>
            <a:ext cx="3492000" cy="12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Calidad y metodología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Estado de las 52 preguntas, fuentes, cobertura y definiciones.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4000" y="4644000"/>
            <a:ext cx="3492000" cy="1044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Navegación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Menú lateral por vista y filtros de periodo, dominio y sociedad portuaria dentro de cada una.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6000" y="4644000"/>
            <a:ext cx="3492000" cy="1044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Control de faltantes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Si falta un archivo, la vista avisa de cuál falta y qué comando lo genera. Nunca estima el valor ausente.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000" y="4644000"/>
            <a:ext cx="3492000" cy="1044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Solo lectura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El cuadro de mando no escribe: consume lo que el proceso ya produjo y verificó.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Demostración en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Ejemplo de uso del dashboard en cinco pasos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Producto · 10 min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4000" y="1980000"/>
            <a:ext cx="10836000" cy="540000"/>
          </a:xfrm>
          <a:prstGeom prst="roundRect">
            <a:avLst/>
          </a:prstGeom>
          <a:solidFill>
            <a:srgbClr val="3B3838"/>
          </a:solidFill>
          <a:ln w="12700">
            <a:solidFill>
              <a:srgbClr val="3B3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streamlit run dashboard/app.py</a:t>
            </a:r>
          </a:p>
        </p:txBody>
      </p:sp>
      <p:sp>
        <p:nvSpPr>
          <p:cNvPr id="9" name="Pentagon 8"/>
          <p:cNvSpPr/>
          <p:nvPr/>
        </p:nvSpPr>
        <p:spPr>
          <a:xfrm>
            <a:off x="684000" y="2736000"/>
            <a:ext cx="2365200" cy="1044000"/>
          </a:xfrm>
          <a:prstGeom prst="homePlate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1 · Resumen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Abrir y leer
los indicadores</a:t>
            </a:r>
          </a:p>
        </p:txBody>
      </p:sp>
      <p:sp>
        <p:nvSpPr>
          <p:cNvPr id="10" name="Chevron 9"/>
          <p:cNvSpPr/>
          <p:nvPr/>
        </p:nvSpPr>
        <p:spPr>
          <a:xfrm>
            <a:off x="2851200" y="2736000"/>
            <a:ext cx="2365200" cy="1044000"/>
          </a:xfrm>
          <a:prstGeom prst="chevron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2 · Descriptivo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Filtrar el periodo
en aduana y puerto</a:t>
            </a:r>
          </a:p>
        </p:txBody>
      </p:sp>
      <p:sp>
        <p:nvSpPr>
          <p:cNvPr id="11" name="Chevron 10"/>
          <p:cNvSpPr/>
          <p:nvPr/>
        </p:nvSpPr>
        <p:spPr>
          <a:xfrm>
            <a:off x="5018400" y="2736000"/>
            <a:ext cx="2365200" cy="1044000"/>
          </a:xfrm>
          <a:prstGeom prst="chevron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3 · Integración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Mostrar la unión
por mes</a:t>
            </a:r>
          </a:p>
        </p:txBody>
      </p:sp>
      <p:sp>
        <p:nvSpPr>
          <p:cNvPr id="12" name="Chevron 11"/>
          <p:cNvSpPr/>
          <p:nvPr/>
        </p:nvSpPr>
        <p:spPr>
          <a:xfrm>
            <a:off x="7185600" y="2736000"/>
            <a:ext cx="2365200" cy="1044000"/>
          </a:xfrm>
          <a:prstGeom prst="chevron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4 · Predictivo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Serie con intervalo
y error del corte</a:t>
            </a:r>
          </a:p>
        </p:txBody>
      </p:sp>
      <p:sp>
        <p:nvSpPr>
          <p:cNvPr id="13" name="Chevron 12"/>
          <p:cNvSpPr/>
          <p:nvPr/>
        </p:nvSpPr>
        <p:spPr>
          <a:xfrm>
            <a:off x="9352800" y="2736000"/>
            <a:ext cx="2365200" cy="1044000"/>
          </a:xfrm>
          <a:prstGeom prst="chevron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5 · Evidencia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Abrir el archivo
que sostiene la cifra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4000" y="4140000"/>
            <a:ext cx="5328000" cy="1224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Análisis descriptivo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Se filtra un periodo en la vista de puerto y se muestra cómo cambia la composición por tipo de carga; se señala el transbordo separado del comercio exterior.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2000" y="4140000"/>
            <a:ext cx="5328000" cy="1224000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Análisis predictivo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Se abre la vista de pronóstico, se muestra el intervalo alrededor de la proyección y se compara el error contra repetir el último valor en el mismo corte.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4000" y="5328000"/>
            <a:ext cx="10836000" cy="36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767171"/>
                </a:solidFill>
                <a:latin typeface="Calibri"/>
              </a:rPr>
              <a:t>El dashboard, el notebook y el documento consultan los mismos archivos de evidencia.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Modelo de 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Lienzo de modelo de negocio aplicado al producto de datos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Cierre · 2 min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4000" y="1980000"/>
            <a:ext cx="2015999" cy="22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3600" rIns="936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Aliados clave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DANE · Supertransporte · Banco de la República · programa de Ciencia de Datos de la Universidad Libre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44000" y="1980000"/>
            <a:ext cx="201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3600" rIns="936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Actividades clave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Ingesta reproducible, validación temporal y publicación de evidencia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44000" y="3131999"/>
            <a:ext cx="201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3600" rIns="936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Recursos clave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Fuentes abiertas, código con pruebas y catálogo de preguntas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04000" y="1980000"/>
            <a:ext cx="2196000" cy="223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3600" rIns="936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Propuesta de valor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Leer aduana y puerto en un solo lugar, con cada cifra rastreable hasta su archivo y cada pronóstico acompañado de su error medido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43999" y="1980000"/>
            <a:ext cx="201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3600" rIns="936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Relación con el usuario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Autoservicio guiado por el cuadro de mando y documentación abierta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43999" y="3131999"/>
            <a:ext cx="201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3600" rIns="936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Canales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Cuadro de mando, repositorio público y documento académico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4000" y="1980000"/>
            <a:ext cx="2015999" cy="22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3600" rIns="936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Segmentos de usuario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Analistas de comercio exterior, planeación logística y observatorios académicos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4000" y="4356000"/>
            <a:ext cx="5220000" cy="104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3600" rIns="936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Estructura de costos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Cómputo local, almacenamiento de las fuentes crudas y tiempo de mantenimiento del proceso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0000" y="4356000"/>
            <a:ext cx="5400000" cy="104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3600" rIns="936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Fuentes de ingreso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Proyecto académico sin ánimo de lucro; el retorno es el ahorro de tiempo de consulta y la reutilización del método en otros puertos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Estrategias de comunicación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Mapa de red: cómo llega el producto a cada público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Cierre · 2 min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 flipV="1">
            <a:off x="6083999" y="2340000"/>
            <a:ext cx="0" cy="129600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83999" y="2340000"/>
            <a:ext cx="3971613" cy="895513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083999" y="3235513"/>
            <a:ext cx="3971613" cy="400487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8538591" y="3235513"/>
            <a:ext cx="1517021" cy="1448973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3999" y="3636000"/>
            <a:ext cx="2454592" cy="1048486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629408" y="4684486"/>
            <a:ext cx="4909183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629408" y="3636000"/>
            <a:ext cx="2454591" cy="1048486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2112387" y="3235513"/>
            <a:ext cx="1517021" cy="1448973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2112387" y="3235513"/>
            <a:ext cx="3971612" cy="400487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112387" y="2340000"/>
            <a:ext cx="3971612" cy="895513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715999" y="1925999"/>
            <a:ext cx="2736000" cy="827999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843C0C"/>
                </a:solidFill>
                <a:latin typeface="Calibri"/>
              </a:rPr>
              <a:t>Evaluadores y programa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Documento y sustentación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7612" y="2821513"/>
            <a:ext cx="2736000" cy="827999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843C0C"/>
                </a:solidFill>
                <a:latin typeface="Calibri"/>
              </a:rPr>
              <a:t>Comunidad académica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Repositorio abierto y cuaderno reproducible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0591" y="4270486"/>
            <a:ext cx="2736000" cy="827999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843C0C"/>
                </a:solidFill>
                <a:latin typeface="Calibri"/>
              </a:rPr>
              <a:t>Analistas del sector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Cuadro de mando con filtros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61408" y="4270486"/>
            <a:ext cx="2736000" cy="827999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843C0C"/>
                </a:solidFill>
                <a:latin typeface="Calibri"/>
              </a:rPr>
              <a:t>Semillero de investigación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Método replicable en otros puertos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4387" y="2821513"/>
            <a:ext cx="2736000" cy="827999"/>
          </a:xfrm>
          <a:prstGeom prst="roundRect">
            <a:avLst/>
          </a:prstGeom>
          <a:solidFill>
            <a:srgbClr val="FAECC0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843C0C"/>
                </a:solidFill>
                <a:latin typeface="Calibri"/>
              </a:rPr>
              <a:t>Público general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00" b="0">
                <a:solidFill>
                  <a:srgbClr val="3B3838"/>
                </a:solidFill>
                <a:latin typeface="Calibri"/>
              </a:rPr>
              <a:t>Resumen de hallazgos en lenguaje claro</a:t>
            </a:r>
          </a:p>
        </p:txBody>
      </p:sp>
      <p:sp>
        <p:nvSpPr>
          <p:cNvPr id="23" name="Oval 22"/>
          <p:cNvSpPr/>
          <p:nvPr/>
        </p:nvSpPr>
        <p:spPr>
          <a:xfrm>
            <a:off x="4535999" y="3150000"/>
            <a:ext cx="3096000" cy="972000"/>
          </a:xfrm>
          <a:prstGeom prst="ellipse">
            <a:avLst/>
          </a:prstGeom>
          <a:solidFill>
            <a:srgbClr val="843C0C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Producto
de datos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000" y="5328000"/>
            <a:ext cx="10836000" cy="36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767171"/>
                </a:solidFill>
                <a:latin typeface="Calibri"/>
              </a:rPr>
              <a:t>Cada canal recibe el mismo hallazgo con distinto nivel de detalle, y en todos los casos el hallazgo se puede rastrear hasta el archivo que lo sostiene.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Lo que el proyecto puede afirmar con la evidencia recogida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Cierre · 2 min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4000" y="1980000"/>
            <a:ext cx="5328000" cy="15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1 · La integración es explicativa, no predictiva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Añadir variables portuarias al pronóstico del valor CIF empeoró el error en 6,575 % frente a 6,082 % de la historia propia. Se midió y se reporta.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1980000"/>
            <a:ext cx="5328000" cy="15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2 · El contraste solo existe cruzando dominios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Mercancía y orígenes variados frente a una concentración de 3.514,24 puntos por sociedad portuaria: ninguna fuente por separado permite ver ese contraste.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4000" y="3708000"/>
            <a:ext cx="5328000" cy="15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3 · Los totales agregados engañan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El total de la zona cae -13,3 % mientras la importación sube 19,6 %: la caída es transbordo, que no es comercio exterior.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2000" y="3708000"/>
            <a:ext cx="5328000" cy="15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800" rIns="1008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843C0C"/>
                </a:solidFill>
                <a:latin typeface="Calibri"/>
              </a:rPr>
              <a:t>4 · Un producto honesto declara sus límites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10 de las 52 preguntas quedaron cerradas con evidencia de por qué, y la carga contenerizada se presenta sin modelo porque ninguno superó la referencia trivial.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5256000"/>
            <a:ext cx="10836000" cy="36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767171"/>
                </a:solidFill>
                <a:latin typeface="Calibri"/>
              </a:rPr>
              <a:t>El producto no puede afirmar nada sobre congestión, tiempos de atención ni buques, y tampoco puede afirmar que dos sociedades dejaran de operar: solo que no aparecen reportando en los seis meses observados de 2026.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Recomendaciones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Lista priorizada: qué haría más sólido el producto en su siguiente iteración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Cierre · 2 min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4000" y="1980000"/>
            <a:ext cx="936000" cy="630000"/>
          </a:xfrm>
          <a:prstGeom prst="roundRect">
            <a:avLst/>
          </a:prstGeom>
          <a:solidFill>
            <a:srgbClr val="A62B2B"/>
          </a:solidFill>
          <a:ln w="12700">
            <a:solidFill>
              <a:srgbClr val="A6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Alta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92000" y="1980000"/>
            <a:ext cx="9828000" cy="63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Validar las reglas de alerta con un usuario real del sector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La propuesta de valor sigue siendo una hipótesis mientras nadie del público objetivo la use en una decisión.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4000" y="2700000"/>
            <a:ext cx="936000" cy="630000"/>
          </a:xfrm>
          <a:prstGeom prst="roundRect">
            <a:avLst/>
          </a:prstGeom>
          <a:solidFill>
            <a:srgbClr val="A62B2B"/>
          </a:solidFill>
          <a:ln w="12700">
            <a:solidFill>
              <a:srgbClr val="A6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Alta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2000" y="2700000"/>
            <a:ext cx="9828000" cy="63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Traducir los códigos de país y de capítulo arancelario a sus nombres oficiales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Hoy el cuadro de mando muestra códigos y eso limita la lectura de quien no conoce la nomenclatura.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4000" y="3420000"/>
            <a:ext cx="936000" cy="630000"/>
          </a:xfrm>
          <a:prstGeom prst="roundRect">
            <a:avLst/>
          </a:prstGeom>
          <a:solidFill>
            <a:srgbClr val="E08C28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Media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92000" y="3420000"/>
            <a:ext cx="9828000" cy="63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Incorporar una fuente institucional sobre la operación de las sociedades portuarias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Permitiría distinguir el cese de reporte del cese de operación, que hoy el proyecto no puede separar.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4000" y="4140000"/>
            <a:ext cx="936000" cy="630000"/>
          </a:xfrm>
          <a:prstGeom prst="roundRect">
            <a:avLst/>
          </a:prstGeom>
          <a:solidFill>
            <a:srgbClr val="E08C28"/>
          </a:solidFill>
          <a:ln w="12700">
            <a:solidFill>
              <a:srgbClr val="E0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Media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92000" y="4140000"/>
            <a:ext cx="9828000" cy="63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Medir la revisión de las cifras del DANE con una segunda descarga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Con una sola descarga no se puede cuantificar cuánto cambian los meses ya publicados.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4000" y="4860000"/>
            <a:ext cx="936000" cy="630000"/>
          </a:xfrm>
          <a:prstGeom prst="roundRect">
            <a:avLst/>
          </a:prstGeom>
          <a:solidFill>
            <a:srgbClr val="767171"/>
          </a:solidFill>
          <a:ln w="12700">
            <a:solidFill>
              <a:srgbClr val="76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Baja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92000" y="4860000"/>
            <a:ext cx="9828000" cy="63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21600" bIns="21600" wrap="square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843C0C"/>
                </a:solidFill>
                <a:latin typeface="Calibri"/>
              </a:rPr>
              <a:t>Replicar la arquitectura en otro puerto con las mismas fuentes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0">
                <a:solidFill>
                  <a:srgbClr val="3B3838"/>
                </a:solidFill>
                <a:latin typeface="Calibri"/>
              </a:rPr>
              <a:t>Comprobaría que el método es transferible y no está ajustado a Buenaventura.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000" y="424800"/>
            <a:ext cx="2664000" cy="28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Montserrat"/>
              </a:rPr>
              <a:t>Agosto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882000"/>
            <a:ext cx="864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843C0C"/>
                </a:solidFill>
                <a:latin typeface="Montserrat"/>
              </a:rPr>
              <a:t>Fuentes de información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" y="1314000"/>
            <a:ext cx="9720000" cy="36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767171"/>
                </a:solidFill>
                <a:latin typeface="Calibri"/>
              </a:rPr>
              <a:t>Todas las fuentes son públicas y su descarga es reproducible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36000" y="917999"/>
            <a:ext cx="1692000" cy="342000"/>
          </a:xfrm>
          <a:prstGeom prst="roundRect">
            <a:avLst/>
          </a:prstGeom>
          <a:solidFill>
            <a:srgbClr val="F8D3BA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843C0C"/>
                </a:solidFill>
                <a:latin typeface="Calibri"/>
              </a:rPr>
              <a:t>Cierre · 2 min</a:t>
            </a:r>
          </a:p>
        </p:txBody>
      </p:sp>
      <p:pic>
        <p:nvPicPr>
          <p:cNvPr id="7" name="Picture 6" descr="logo_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00" y="5940000"/>
            <a:ext cx="864000" cy="84600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684000" y="1944000"/>
            <a:ext cx="612000" cy="558000"/>
          </a:xfrm>
          <a:prstGeom prst="ellipse">
            <a:avLst/>
          </a:prstGeom>
          <a:solidFill>
            <a:srgbClr val="EEC12E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843C0C"/>
                </a:solidFill>
                <a:latin typeface="Calibri"/>
              </a:rPr>
              <a:t>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0000" y="1980000"/>
            <a:ext cx="1008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843C0C"/>
                </a:solidFill>
                <a:latin typeface="Calibri"/>
              </a:rPr>
              <a:t>DANE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>
                <a:solidFill>
                  <a:srgbClr val="3B3838"/>
                </a:solidFill>
                <a:latin typeface="Calibri"/>
              </a:rPr>
              <a:t>Microdatos de importación, aduana 35 de Buenaventura. 6.703.351 registros procesados, 2012-01 a 2026-05.</a:t>
            </a:r>
          </a:p>
        </p:txBody>
      </p:sp>
      <p:sp>
        <p:nvSpPr>
          <p:cNvPr id="10" name="Oval 9"/>
          <p:cNvSpPr/>
          <p:nvPr/>
        </p:nvSpPr>
        <p:spPr>
          <a:xfrm>
            <a:off x="684000" y="2527200"/>
            <a:ext cx="612000" cy="558000"/>
          </a:xfrm>
          <a:prstGeom prst="ellipse">
            <a:avLst/>
          </a:prstGeom>
          <a:solidFill>
            <a:srgbClr val="EEC12E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843C0C"/>
                </a:solidFill>
                <a:latin typeface="Calibri"/>
              </a:rPr>
              <a:t>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0000" y="2563200"/>
            <a:ext cx="1008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843C0C"/>
                </a:solidFill>
                <a:latin typeface="Calibri"/>
              </a:rPr>
              <a:t>Superintendencia de Transporte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>
                <a:solidFill>
                  <a:srgbClr val="3B3838"/>
                </a:solidFill>
                <a:latin typeface="Calibri"/>
              </a:rPr>
              <a:t>Tráfico portuario mensual, conjunto 5r3g-zv5z de datos.gov.co, licencia CC BY-SA 4.0. 2018-01 a 2026-06.</a:t>
            </a:r>
          </a:p>
        </p:txBody>
      </p:sp>
      <p:sp>
        <p:nvSpPr>
          <p:cNvPr id="12" name="Oval 11"/>
          <p:cNvSpPr/>
          <p:nvPr/>
        </p:nvSpPr>
        <p:spPr>
          <a:xfrm>
            <a:off x="684000" y="3110400"/>
            <a:ext cx="612000" cy="558000"/>
          </a:xfrm>
          <a:prstGeom prst="ellipse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843C0C"/>
                </a:solidFill>
                <a:latin typeface="Calibri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0" y="3146400"/>
            <a:ext cx="1008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843C0C"/>
                </a:solidFill>
                <a:latin typeface="Calibri"/>
              </a:rPr>
              <a:t>Banco de la República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>
                <a:solidFill>
                  <a:srgbClr val="3B3838"/>
                </a:solidFill>
                <a:latin typeface="Calibri"/>
              </a:rPr>
              <a:t>Tasa representativa del mercado, serie mensual.</a:t>
            </a:r>
          </a:p>
        </p:txBody>
      </p:sp>
      <p:sp>
        <p:nvSpPr>
          <p:cNvPr id="14" name="Oval 13"/>
          <p:cNvSpPr/>
          <p:nvPr/>
        </p:nvSpPr>
        <p:spPr>
          <a:xfrm>
            <a:off x="684000" y="3693600"/>
            <a:ext cx="612000" cy="558000"/>
          </a:xfrm>
          <a:prstGeom prst="ellipse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843C0C"/>
                </a:solidFill>
                <a:latin typeface="Calibri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0000" y="3729600"/>
            <a:ext cx="1008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843C0C"/>
                </a:solidFill>
                <a:latin typeface="Calibri"/>
              </a:rPr>
              <a:t>NOAA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>
                <a:solidFill>
                  <a:srgbClr val="3B3838"/>
                </a:solidFill>
                <a:latin typeface="Calibri"/>
              </a:rPr>
              <a:t>Índice oceánico de El Niño, serie mensual.</a:t>
            </a:r>
          </a:p>
        </p:txBody>
      </p:sp>
      <p:sp>
        <p:nvSpPr>
          <p:cNvPr id="16" name="Oval 15"/>
          <p:cNvSpPr/>
          <p:nvPr/>
        </p:nvSpPr>
        <p:spPr>
          <a:xfrm>
            <a:off x="684000" y="4276800"/>
            <a:ext cx="612000" cy="558000"/>
          </a:xfrm>
          <a:prstGeom prst="ellipse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843C0C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0000" y="4312800"/>
            <a:ext cx="1008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843C0C"/>
                </a:solidFill>
                <a:latin typeface="Calibri"/>
              </a:rPr>
              <a:t>DIMAR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>
                <a:solidFill>
                  <a:srgbClr val="3B3838"/>
                </a:solidFill>
                <a:latin typeface="Calibri"/>
              </a:rPr>
              <a:t>Boletines de tráfico marítimo. Sin serie tabular histórica descargable: por eso el dominio marítimo se declara no viable.</a:t>
            </a:r>
          </a:p>
        </p:txBody>
      </p:sp>
      <p:sp>
        <p:nvSpPr>
          <p:cNvPr id="18" name="Oval 17"/>
          <p:cNvSpPr/>
          <p:nvPr/>
        </p:nvSpPr>
        <p:spPr>
          <a:xfrm>
            <a:off x="684000" y="4860000"/>
            <a:ext cx="612000" cy="558000"/>
          </a:xfrm>
          <a:prstGeom prst="ellipse">
            <a:avLst/>
          </a:prstGeom>
          <a:solidFill>
            <a:srgbClr val="FAECC0"/>
          </a:solidFill>
          <a:ln w="12700">
            <a:solidFill>
              <a:srgbClr val="843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1600" bIns="21600" wrap="square"/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843C0C"/>
                </a:solidFill>
                <a:latin typeface="Calibri"/>
              </a:rPr>
              <a:t>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0000" y="4896000"/>
            <a:ext cx="10080000" cy="54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843C0C"/>
                </a:solidFill>
                <a:latin typeface="Calibri"/>
              </a:rPr>
              <a:t>NTC 1486 y APA séptima edición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>
                <a:solidFill>
                  <a:srgbClr val="3B3838"/>
                </a:solidFill>
                <a:latin typeface="Calibri"/>
              </a:rPr>
              <a:t>Presentación del documento y citación de fuentes.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4000" y="5490000"/>
            <a:ext cx="10836000" cy="205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767171"/>
                </a:solidFill>
                <a:latin typeface="Calibri"/>
              </a:rPr>
              <a:t>Cada archivo descargado quedó registrado con su huella digital y su fecha de consulta antes de ser procesado.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cie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